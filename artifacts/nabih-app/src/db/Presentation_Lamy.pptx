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L’INCIDENCE RADIOLOGIQUE</a:t>
            </a:r>
            <a:br/>
            <a:r>
              <a:t>DE L’ÉPAULE — PROFIL DE LAMY</a:t>
            </a:r>
          </a:p>
          <a:p>
            <a:pPr>
              <a:spcBef>
                <a:spcPts val="1800"/>
              </a:spcBef>
              <a:defRPr sz="1900">
                <a:solidFill>
                  <a:srgbClr val="BEDCE1"/>
                </a:solidFill>
              </a:defRPr>
            </a:pPr>
            <a:r>
              <a:t>Mémoire de fin d’étude — Imagerie médicale</a:t>
            </a:r>
          </a:p>
          <a:p>
            <a:pPr>
              <a:spcBef>
                <a:spcPts val="2000"/>
              </a:spcBef>
              <a:defRPr sz="1400">
                <a:solidFill>
                  <a:srgbClr val="FFFFFF"/>
                </a:solidFill>
              </a:defRPr>
            </a:pPr>
            <a:r>
              <a:t>Sahraoui Houcine  •  Encadré par Hamzaoui B  •  Session Juin 2021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977639"/>
            <a:ext cx="1828800" cy="73152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Plan de la présentation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32A30"/>
                </a:solidFill>
              </a:defRPr>
            </a:pPr>
            <a:r>
              <a:t>Contexte, problématique et hypothèse</a:t>
            </a:r>
          </a:p>
          <a:p>
            <a:pPr>
              <a:spcAft>
                <a:spcPts val="1200"/>
              </a:spcAft>
              <a:defRPr sz="2100" b="0">
                <a:solidFill>
                  <a:srgbClr val="232A30"/>
                </a:solidFill>
              </a:defRPr>
            </a:pPr>
            <a:r>
              <a:t>Rappel anatomique de l’épaule</a:t>
            </a:r>
          </a:p>
          <a:p>
            <a:pPr>
              <a:spcAft>
                <a:spcPts val="1200"/>
              </a:spcAft>
              <a:defRPr sz="2100" b="0">
                <a:solidFill>
                  <a:srgbClr val="232A30"/>
                </a:solidFill>
              </a:defRPr>
            </a:pPr>
            <a:r>
              <a:t>Exploration radiologique et incidence de Lamy</a:t>
            </a:r>
          </a:p>
          <a:p>
            <a:pPr>
              <a:spcAft>
                <a:spcPts val="1200"/>
              </a:spcAft>
              <a:defRPr sz="2100" b="0">
                <a:solidFill>
                  <a:srgbClr val="232A30"/>
                </a:solidFill>
              </a:defRPr>
            </a:pPr>
            <a:r>
              <a:t>Méthodologie de l’enquête</a:t>
            </a:r>
          </a:p>
          <a:p>
            <a:pPr>
              <a:spcAft>
                <a:spcPts val="1200"/>
              </a:spcAft>
              <a:defRPr sz="2100" b="0">
                <a:solidFill>
                  <a:srgbClr val="232A30"/>
                </a:solidFill>
              </a:defRPr>
            </a:pPr>
            <a:r>
              <a:t>Résultats principaux</a:t>
            </a:r>
          </a:p>
          <a:p>
            <a:pPr>
              <a:spcAft>
                <a:spcPts val="1200"/>
              </a:spcAft>
              <a:defRPr sz="2100" b="0">
                <a:solidFill>
                  <a:srgbClr val="232A30"/>
                </a:solidFill>
              </a:defRPr>
            </a:pPr>
            <a:r>
              <a:t>Analyse globale, vérification de l’hypothèse et recommandations</a:t>
            </a:r>
          </a:p>
          <a:p>
            <a:pPr>
              <a:spcAft>
                <a:spcPts val="1200"/>
              </a:spcAft>
              <a:defRPr sz="2100" b="0">
                <a:solidFill>
                  <a:srgbClr val="232A30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Contexte et intérêt du thème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L’épaule est une articulation complexe permettant une grande amplitude de mouvement.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Une exploration radiologique adaptée est nécessaire pour orienter le diagnostic et la prise en charge.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Le mémoire souligne que la face est fréquemment demandée, alors que le profil de Lamy est peu pratiqué dans le contexte étudié.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L’objectif est de mettre en évidence l’intérêt de cette incidence dans l’exploration de l’épaule traumatique et non traumatique.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Problématique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142D46"/>
                </a:solidFill>
              </a:defRPr>
            </a:pPr>
            <a:r>
              <a:t>Pourquoi l’incidence radiologique de l’épaule de profil de Lamy n’est-elle pas pratiquée par les manipulateurs dans les services radiologiques d’urgence et interne de l’EPH Mohamed Boudiaf d’El Bayadh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Hypothèse et objectifs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274320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1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hypothèse principale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1645920"/>
            <a:ext cx="7315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Insuffisance des bases théoriques et pratiques sur l’incidence radiologique standard de Lamy chez les manipulateurs.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Mettre en évidence l’incidence de profil de Lamy.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Montrer son intérêt dans le diagnostic de l’épaule traumatique et non traumatique.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Rappel anatomique — structures essentielles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Humérus : tête humérale, trochin, trochiter et col chirurgical.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Clavicule : os transversal reliant le sternum à l’acromion.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Omoplate : os plat triangulaire comprenant notamment l’épine, l’acromion et la cavité glénoïde.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Articulation scapulo-humérale : articulation synoviale très mobile entre tête humérale et glène.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Articulation acromio-claviculaire : articulation entre l’extrémité externe de la clavicule et l’acromion.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Exploration radiologique de l’épaule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Accueil et identification du patient.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Patient torse nu et explication du déroulement de l’examen.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Mesures de radioprotection, notamment chez la femme enceinte.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Matériel cité : statif vertical, petit foyer, cône localisateur/diaphragme et cassette 24 × 30.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Le mémoire présente plusieurs incidences de profil, dont Lamy, profil axillaire, Didiee, trans-thoracique et Bloom-Obata.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Incidence de profil de Lamy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737A"/>
                </a:solidFill>
              </a:defRPr>
            </a:pPr>
            <a:r>
              <a:t>Positionnement et centrage décrits dans le mémoire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Incidence PA.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Patient en oblique antérieure du côté à explorer, environ 30° à 40°.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Bras positionné le long du corps.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Rayon directeur horizontal, incliné d’environ 15° à 20° vers le bas.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Centrage sur la tête humérale.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210312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30–40°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obliquité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828800"/>
            <a:ext cx="210312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15–20°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inclinaison du 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Intérêt diagnostique du profil de Lamy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Étude de l’articulation acromio-claviculaire, notamment dans le bilan des luxations acromio-claviculaires.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Exploration de l’extrémité supérieure de la diaphyse humérale et de l’omoplate.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Bilan des instabilités de l’épaule, antérieures ou postérieures.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Le mémoire présente cette incidence comme particulièrement utile dans l’exploration de l’épaule traumatique.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Critères de réussite du cliché de Lamy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32A30"/>
                </a:solidFill>
              </a:defRPr>
            </a:pPr>
            <a:r>
              <a:t>Superposition de la diaphyse humérale et de l’épine de l’omoplate.</a:t>
            </a:r>
          </a:p>
          <a:p>
            <a:pPr>
              <a:spcAft>
                <a:spcPts val="1200"/>
              </a:spcAft>
              <a:defRPr sz="2200" b="0">
                <a:solidFill>
                  <a:srgbClr val="232A30"/>
                </a:solidFill>
              </a:defRPr>
            </a:pPr>
            <a:r>
              <a:t>Aspect en « Y » de l’omoplate centré sur la tête humérale.</a:t>
            </a:r>
          </a:p>
          <a:p>
            <a:pPr>
              <a:spcAft>
                <a:spcPts val="1200"/>
              </a:spcAft>
              <a:defRPr sz="2200" b="0">
                <a:solidFill>
                  <a:srgbClr val="232A30"/>
                </a:solidFill>
              </a:defRPr>
            </a:pPr>
            <a:r>
              <a:t>Espace sous-acromial bien dégagé.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Méthodologie de l’étude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24688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15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manipulateurs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737360"/>
            <a:ext cx="33832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25/11/2020 → 11/03/2021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période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737360"/>
            <a:ext cx="33832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EPH El Bayadh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lieu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32A30"/>
                </a:solidFill>
              </a:defRPr>
            </a:pPr>
            <a:r>
              <a:t>Population : manipulateurs en imagerie médicale de santé publique travaillant à l’EPH El Bayadh.</a:t>
            </a:r>
          </a:p>
          <a:p>
            <a:pPr>
              <a:spcAft>
                <a:spcPts val="1200"/>
              </a:spcAft>
              <a:defRPr sz="1700" b="0">
                <a:solidFill>
                  <a:srgbClr val="232A30"/>
                </a:solidFill>
              </a:defRPr>
            </a:pPr>
            <a:r>
              <a:t>Outil d’enquête : questionnaire.</a:t>
            </a:r>
          </a:p>
          <a:p>
            <a:pPr>
              <a:spcAft>
                <a:spcPts val="1200"/>
              </a:spcAft>
              <a:defRPr sz="1700" b="0">
                <a:solidFill>
                  <a:srgbClr val="232A30"/>
                </a:solidFill>
              </a:defRPr>
            </a:pPr>
            <a:r>
              <a:t>Objectif : recueillir les connaissances et pratiques relatives aux incidences radiologiques de l’épaule et particulièrement au profil de Lamy.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Profil de l’échantillon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237744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60%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hommes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737360"/>
            <a:ext cx="237744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40%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femmes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737360"/>
            <a:ext cx="237744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47%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grade MIM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737360"/>
            <a:ext cx="237744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40%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0–10 ans d’expérience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32A30"/>
                </a:solidFill>
              </a:defRPr>
            </a:pPr>
            <a:r>
              <a:t>Échantillon total : 15 manipulateurs.</a:t>
            </a:r>
          </a:p>
          <a:p>
            <a:pPr>
              <a:spcAft>
                <a:spcPts val="1200"/>
              </a:spcAft>
              <a:defRPr sz="1700" b="0">
                <a:solidFill>
                  <a:srgbClr val="232A30"/>
                </a:solidFill>
              </a:defRPr>
            </a:pPr>
            <a:r>
              <a:t>Grades rapportés : MIM 47 %, MIMS 33 %, sans réponse 20 %.</a:t>
            </a:r>
          </a:p>
          <a:p>
            <a:pPr>
              <a:spcAft>
                <a:spcPts val="1200"/>
              </a:spcAft>
              <a:defRPr sz="1700" b="0">
                <a:solidFill>
                  <a:srgbClr val="232A30"/>
                </a:solidFill>
              </a:defRPr>
            </a:pPr>
            <a:r>
              <a:t>Expérience : 40 % ont 0–10 ans, 20 % 10–20 ans, 27 % 20–30 ans et 13 % 30 ans ou plus.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Résultats — pratiques radiologiques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93%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demandent la face en cas d’épaule traumatisée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73%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ne pratiquent pas le profil de l’épaule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93%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ne pratiquent pas le profil de Lamy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Une seule personne sur 15 déclare pratiquer l’incidence de Lamy.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Le profil de Lamy apparaît donc très peu intégré à la pratique déclarée de l’échantillon.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Résultats — connaissances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93%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sans connaissances théoriques sur Lamy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60%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jugent leurs connaissances insuffisantes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60%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proposent une formation continue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93 % déclarent ne pas avoir de connaissances théoriques sur cette incidence.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60 % estiment leurs connaissances théoriques et pratiques insuffisantes face à des techniques comme Lamy.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Les deux principales pistes citées sont la formation continue et l’autoformation.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Résultats — perception de l’examen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80%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identifient l’épaule comme région complexe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73%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pensent que des techniques comme Lamy sont nécessaires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1325880"/>
          </a:xfrm>
          <a:prstGeom prst="roundRect">
            <a:avLst/>
          </a:prstGeom>
          <a:solidFill>
            <a:srgbClr val="F2F6F8"/>
          </a:solidFill>
          <a:ln>
            <a:solidFill>
              <a:srgbClr val="DC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60%</a:t>
            </a:r>
          </a:p>
          <a:p>
            <a:pPr algn="ctr">
              <a:defRPr sz="1100">
                <a:solidFill>
                  <a:srgbClr val="69737A"/>
                </a:solidFill>
              </a:defRPr>
            </a:pPr>
            <a:r>
              <a:t>pensent que la face seule suffit dans le cas proposé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40 % associent la complexité de l’épaule à la présence de plusieurs os et articulations.</a:t>
            </a:r>
          </a:p>
          <a:p>
            <a:pPr>
              <a:spcAft>
                <a:spcPts val="1200"/>
              </a:spcAft>
              <a:defRPr sz="1800" b="0">
                <a:solidFill>
                  <a:srgbClr val="232A30"/>
                </a:solidFill>
              </a:defRPr>
            </a:pPr>
            <a:r>
              <a:t>Le mémoire met en évidence un contraste entre la reconnaissance de la complexité de l’épaule et la faible pratique de Lamy.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Analyse globale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Le profil de l’épaule n’est pas pratiqué malgré l’importance qui lui est attribuée dans le mémoire.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Les connaissances théoriques relatives à l’incidence de Lamy sont limitées dans l’échantillon étudié.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Certaines incidences sont peu ou jamais demandées dans les services, ce qui peut contribuer à leur faible pratique.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Les répondants proposent la lecture de références récentes, la formation continue et l’autoformation pour actualiser les compétences.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Vérification de l’hypothèse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3272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008791"/>
                </a:solidFill>
              </a:defRPr>
            </a:pPr>
            <a:r>
              <a:t>HYPOTHÈSE VALIDÉE</a:t>
            </a:r>
          </a:p>
          <a:p>
            <a:pPr algn="ctr">
              <a:spcBef>
                <a:spcPts val="2200"/>
              </a:spcBef>
              <a:defRPr sz="2100">
                <a:solidFill>
                  <a:srgbClr val="142D46"/>
                </a:solidFill>
              </a:defRPr>
            </a:pPr>
            <a:r>
              <a:t>L’enquête conclut à une insuffisance des bases théoriques et pratiques relatives à l’incidence standard de Lamy chez les manipulateurs étudiés.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Recommandations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Renforcer la formation continue des manipulateurs en radiologie sur les techniques radiologiques, notamment les techniques récentes.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Encourager la motivation et l’autoformation afin d’actualiser régulièrement les connaissances et compétences.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Améliorer la maîtrise pratique des incidences de l’épaule, dont le profil de Lamy.</a:t>
            </a:r>
          </a:p>
          <a:p>
            <a:pPr>
              <a:spcAft>
                <a:spcPts val="1200"/>
              </a:spcAft>
              <a:defRPr sz="1900" b="0">
                <a:solidFill>
                  <a:srgbClr val="232A30"/>
                </a:solidFill>
              </a:defRPr>
            </a:pPr>
            <a:r>
              <a:t>Objectif final : contribuer à une meilleure prise en charge du patient.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>
              <a:spcBef>
                <a:spcPts val="2500"/>
              </a:spcBef>
              <a:defRPr sz="2200">
                <a:solidFill>
                  <a:srgbClr val="DCEBEE"/>
                </a:solidFill>
              </a:defRPr>
            </a:pPr>
            <a:r>
              <a:t>L’étude met en évidence les difficultés liées à la connaissance, à l’indication et à la réalisation du profil de Lamy dans le contexte étudié.</a:t>
            </a:r>
          </a:p>
          <a:p>
            <a:pPr>
              <a:spcBef>
                <a:spcPts val="1800"/>
              </a:spcBef>
              <a:defRPr sz="2000">
                <a:solidFill>
                  <a:srgbClr val="FFFFFF"/>
                </a:solidFill>
              </a:defRPr>
            </a:pPr>
            <a:r>
              <a:t>Le renforcement de la formation et de l’actualisation des compétences est proposé comme levier d’amélioration.</a:t>
            </a:r>
          </a:p>
          <a:p>
            <a:pPr>
              <a:spcBef>
                <a:spcPts val="3500"/>
              </a:spcBef>
              <a:defRPr sz="2200" b="1">
                <a:solidFill>
                  <a:srgbClr val="FFFFFF"/>
                </a:solidFill>
              </a:defRPr>
            </a:pPr>
            <a:r>
              <a:t>Merci pour votre attention.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6"/>
                </a:solidFill>
              </a:defRPr>
            </a:pPr>
            <a:r>
              <a:t>Références citées dans le mémoire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25880"/>
            <a:ext cx="10881360" cy="32004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A30"/>
                </a:solidFill>
              </a:defRPr>
            </a:pPr>
            <a:r>
              <a:t>Guide pratique de technique du radiodiagnostic.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0"/>
                </a:solidFill>
              </a:defRPr>
            </a:pPr>
            <a:r>
              <a:t>Guide des positions et incidences en radiologie ostéoarticulaire.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0"/>
                </a:solidFill>
              </a:defRPr>
            </a:pPr>
            <a:r>
              <a:t>Guide technique soins imagerie médicale.</a:t>
            </a:r>
          </a:p>
          <a:p>
            <a:pPr>
              <a:spcAft>
                <a:spcPts val="1200"/>
              </a:spcAft>
              <a:defRPr sz="2000" b="0">
                <a:solidFill>
                  <a:srgbClr val="232A30"/>
                </a:solidFill>
              </a:defRPr>
            </a:pPr>
            <a:r>
              <a:t>Sites mentionnés : info-radiologie.ch ; paris-epaule.com.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A"/>
                </a:solidFill>
              </a:defRPr>
            </a:pPr>
            <a:r>
              <a:t>Incidence radiologique de l’épaule — Profil de Lamy  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